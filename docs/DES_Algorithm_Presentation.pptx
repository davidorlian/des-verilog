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8" r:id="rId3"/>
    <p:sldId id="269" r:id="rId4"/>
    <p:sldId id="270" r:id="rId5"/>
    <p:sldId id="271" r:id="rId6"/>
    <p:sldId id="278" r:id="rId7"/>
    <p:sldId id="279" r:id="rId8"/>
    <p:sldId id="259" r:id="rId9"/>
    <p:sldId id="261" r:id="rId10"/>
    <p:sldId id="276" r:id="rId11"/>
    <p:sldId id="262" r:id="rId12"/>
    <p:sldId id="275" r:id="rId13"/>
    <p:sldId id="260" r:id="rId14"/>
    <p:sldId id="273" r:id="rId15"/>
    <p:sldId id="274" r:id="rId16"/>
    <p:sldId id="264" r:id="rId17"/>
    <p:sldId id="265" r:id="rId1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4347" autoAdjust="0"/>
    <p:restoredTop sz="94660"/>
  </p:normalViewPr>
  <p:slideViewPr>
    <p:cSldViewPr snapToGrid="0" snapToObjects="1">
      <p:cViewPr varScale="1">
        <p:scale>
          <a:sx n="75" d="100"/>
          <a:sy n="75" d="100"/>
        </p:scale>
        <p:origin x="1190" y="43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9/21/2025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9/21/2025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9/21/2025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30.png"/><Relationship Id="rId3" Type="http://schemas.openxmlformats.org/officeDocument/2006/relationships/image" Target="../media/image2.png"/><Relationship Id="rId7" Type="http://schemas.openxmlformats.org/officeDocument/2006/relationships/slide" Target="slide4.xm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.png"/><Relationship Id="rId5" Type="http://schemas.openxmlformats.org/officeDocument/2006/relationships/image" Target="../media/image2.png"/><Relationship Id="rId4" Type="http://schemas.openxmlformats.org/officeDocument/2006/relationships/slide" Target="slide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" Target="slide3.xm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jp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" Target="slide3.xml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slide" Target="slide5.xml"/><Relationship Id="rId5" Type="http://schemas.openxmlformats.org/officeDocument/2006/relationships/image" Target="../media/image6.png"/><Relationship Id="rId4" Type="http://schemas.openxmlformats.org/officeDocument/2006/relationships/image" Target="../media/image5.jp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" Target="slide4.xm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jp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g"/><Relationship Id="rId2" Type="http://schemas.openxmlformats.org/officeDocument/2006/relationships/image" Target="../media/image15.jp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dirty="0"/>
              <a:t>Implementing DES Encryption Algorithm in Verilog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dirty="0"/>
          </a:p>
          <a:p>
            <a:pPr>
              <a:defRPr sz="1800"/>
            </a:pPr>
            <a:r>
              <a:rPr dirty="0"/>
              <a:t>Presented by: </a:t>
            </a:r>
            <a:r>
              <a:rPr lang="en-US" dirty="0"/>
              <a:t>Roni Zukerman and David Orlian</a:t>
            </a:r>
            <a:endParaRPr dirty="0"/>
          </a:p>
          <a:p>
            <a:pPr>
              <a:defRPr sz="1800"/>
            </a:pPr>
            <a:r>
              <a:rPr dirty="0"/>
              <a:t>Course: Cryptography Algorithms and Verilog Implementation (130330)</a:t>
            </a:r>
          </a:p>
          <a:p>
            <a:pPr>
              <a:defRPr sz="1800"/>
            </a:pPr>
            <a:r>
              <a:rPr dirty="0"/>
              <a:t>Institution: Jerusalem College of Technology</a:t>
            </a:r>
          </a:p>
          <a:p>
            <a:pPr>
              <a:defRPr sz="1800"/>
            </a:pPr>
            <a:r>
              <a:rPr dirty="0"/>
              <a:t>Date: </a:t>
            </a:r>
            <a:r>
              <a:rPr lang="en-US" dirty="0"/>
              <a:t>21/9/2025</a:t>
            </a:r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/>
          <a:lstStyle/>
          <a:p>
            <a:r>
              <a:rPr dirty="0"/>
              <a:t>The DES Encryption Algorithm</a:t>
            </a:r>
          </a:p>
        </p:txBody>
      </p:sp>
      <p:pic>
        <p:nvPicPr>
          <p:cNvPr id="7" name="תמונה 6">
            <a:extLst>
              <a:ext uri="{FF2B5EF4-FFF2-40B4-BE49-F238E27FC236}">
                <a16:creationId xmlns:a16="http://schemas.microsoft.com/office/drawing/2014/main" id="{03965E01-320A-FDDD-F135-9FA3E8E490B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7831" y="1216407"/>
            <a:ext cx="8548338" cy="4425185"/>
          </a:xfrm>
          <a:prstGeom prst="rect">
            <a:avLst/>
          </a:prstGeom>
        </p:spPr>
      </p:pic>
      <mc:AlternateContent xmlns:mc="http://schemas.openxmlformats.org/markup-compatibility/2006" xmlns:pslz="http://schemas.microsoft.com/office/powerpoint/2016/slidezoom">
        <mc:Choice Requires="pslz">
          <p:graphicFrame>
            <p:nvGraphicFramePr>
              <p:cNvPr id="9" name="תצוגת שקופית 8">
                <a:extLst>
                  <a:ext uri="{FF2B5EF4-FFF2-40B4-BE49-F238E27FC236}">
                    <a16:creationId xmlns:a16="http://schemas.microsoft.com/office/drawing/2014/main" id="{17A441A8-EF64-BA73-09A9-CD8642A13F82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1884857068"/>
                  </p:ext>
                </p:extLst>
              </p:nvPr>
            </p:nvGraphicFramePr>
            <p:xfrm>
              <a:off x="4207509" y="1754568"/>
              <a:ext cx="1937935" cy="1453451"/>
            </p:xfrm>
            <a:graphic>
              <a:graphicData uri="http://schemas.microsoft.com/office/powerpoint/2016/slidezoom">
                <pslz:sldZm>
                  <pslz:sldZmObj sldId="269" cId="1285115828">
                    <pslz:zmPr id="{525226F2-00B8-4CC4-9428-1BEDE9E3F296}" imageType="cover" transitionDur="1000" showBg="0">
                      <p166:blipFill xmlns:p166="http://schemas.microsoft.com/office/powerpoint/2016/6/main">
                        <a:blip r:embed="rId3"/>
                        <a:stretch>
                          <a:fillRect/>
                        </a:stretch>
                      </p166:blipFill>
                      <p166:spPr xmlns:p166="http://schemas.microsoft.com/office/powerpoint/2016/6/main">
                        <a:xfrm>
                          <a:off x="0" y="0"/>
                          <a:ext cx="1937935" cy="1453451"/>
                        </a:xfrm>
                        <a:prstGeom prst="rect">
                          <a:avLst/>
                        </a:prstGeom>
                        <a:ln w="3175">
                          <a:noFill/>
                        </a:ln>
                      </p166:spPr>
                    </pslz:zmPr>
                  </pslz:sldZmObj>
                </pslz:sldZm>
              </a:graphicData>
            </a:graphic>
          </p:graphicFrame>
        </mc:Choice>
        <mc:Fallback xmlns="">
          <p:pic>
            <p:nvPicPr>
              <p:cNvPr id="9" name="תצוגת שקופית 8">
                <a:hlinkClick r:id="rId4" action="ppaction://hlinksldjump"/>
                <a:extLst>
                  <a:ext uri="{FF2B5EF4-FFF2-40B4-BE49-F238E27FC236}">
                    <a16:creationId xmlns:a16="http://schemas.microsoft.com/office/drawing/2014/main" id="{17A441A8-EF64-BA73-09A9-CD8642A13F82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4207509" y="1754568"/>
                <a:ext cx="1937935" cy="1453451"/>
              </a:xfrm>
              <a:prstGeom prst="rect">
                <a:avLst/>
              </a:prstGeom>
              <a:ln w="3175">
                <a:noFill/>
              </a:ln>
            </p:spPr>
          </p:pic>
        </mc:Fallback>
      </mc:AlternateContent>
      <mc:AlternateContent xmlns:mc="http://schemas.openxmlformats.org/markup-compatibility/2006" xmlns:pslz="http://schemas.microsoft.com/office/powerpoint/2016/slidezoom">
        <mc:Choice Requires="pslz">
          <p:graphicFrame>
            <p:nvGraphicFramePr>
              <p:cNvPr id="12" name="תצוגת שקופית 11">
                <a:extLst>
                  <a:ext uri="{FF2B5EF4-FFF2-40B4-BE49-F238E27FC236}">
                    <a16:creationId xmlns:a16="http://schemas.microsoft.com/office/drawing/2014/main" id="{926BA45A-B24A-710E-FE3D-0A70D76CCB10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3549148953"/>
                  </p:ext>
                </p:extLst>
              </p:nvPr>
            </p:nvGraphicFramePr>
            <p:xfrm>
              <a:off x="4227786" y="3749040"/>
              <a:ext cx="1889760" cy="1417320"/>
            </p:xfrm>
            <a:graphic>
              <a:graphicData uri="http://schemas.microsoft.com/office/powerpoint/2016/slidezoom">
                <pslz:sldZm>
                  <pslz:sldZmObj sldId="270" cId="3038148084">
                    <pslz:zmPr id="{91B29706-5BF3-4A59-AB2F-2E9CB666633E}" transitionDur="1000">
                      <p166:blipFill xmlns:p166="http://schemas.microsoft.com/office/powerpoint/2016/6/main">
                        <a:blip r:embed="rId6"/>
                        <a:stretch>
                          <a:fillRect/>
                        </a:stretch>
                      </p166:blipFill>
                      <p166:spPr xmlns:p166="http://schemas.microsoft.com/office/powerpoint/2016/6/main">
                        <a:xfrm>
                          <a:off x="0" y="0"/>
                          <a:ext cx="1889760" cy="1417320"/>
                        </a:xfrm>
                        <a:prstGeom prst="rect">
                          <a:avLst/>
                        </a:prstGeom>
                        <a:ln w="3175">
                          <a:noFill/>
                        </a:ln>
                      </p166:spPr>
                    </pslz:zmPr>
                  </pslz:sldZmObj>
                </pslz:sldZm>
              </a:graphicData>
            </a:graphic>
          </p:graphicFrame>
        </mc:Choice>
        <mc:Fallback xmlns="">
          <p:pic>
            <p:nvPicPr>
              <p:cNvPr id="12" name="תצוגת שקופית 11">
                <a:hlinkClick r:id="rId7" action="ppaction://hlinksldjump"/>
                <a:extLst>
                  <a:ext uri="{FF2B5EF4-FFF2-40B4-BE49-F238E27FC236}">
                    <a16:creationId xmlns:a16="http://schemas.microsoft.com/office/drawing/2014/main" id="{926BA45A-B24A-710E-FE3D-0A70D76CCB10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4227786" y="3749040"/>
                <a:ext cx="1889760" cy="1417320"/>
              </a:xfrm>
              <a:prstGeom prst="rect">
                <a:avLst/>
              </a:prstGeom>
              <a:ln w="3175">
                <a:noFill/>
              </a:ln>
            </p:spPr>
          </p:pic>
        </mc:Fallback>
      </mc:AlternateContent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4810D6DC-BCEF-004E-79A6-77ED27E940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EE2759-319C-AEFE-D3C0-210D9196C409}"/>
              </a:ext>
            </a:extLst>
          </p:cNvPr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/>
          <a:lstStyle/>
          <a:p>
            <a:r>
              <a:rPr dirty="0"/>
              <a:t>The DES Encryption Algorithm</a:t>
            </a:r>
          </a:p>
        </p:txBody>
      </p:sp>
      <p:pic>
        <p:nvPicPr>
          <p:cNvPr id="7" name="תמונה 6">
            <a:extLst>
              <a:ext uri="{FF2B5EF4-FFF2-40B4-BE49-F238E27FC236}">
                <a16:creationId xmlns:a16="http://schemas.microsoft.com/office/drawing/2014/main" id="{FDED1579-D067-E686-F8A0-B55237FD53FF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46004" t="12429" r="31627" b="55165"/>
          <a:stretch>
            <a:fillRect/>
          </a:stretch>
        </p:blipFill>
        <p:spPr>
          <a:xfrm>
            <a:off x="0" y="0"/>
            <a:ext cx="9144000" cy="6857999"/>
          </a:xfrm>
          <a:prstGeom prst="rect">
            <a:avLst/>
          </a:prstGeom>
        </p:spPr>
      </p:pic>
      <p:pic>
        <p:nvPicPr>
          <p:cNvPr id="3" name="תמונה 2" descr="תמונה שמכילה טקסט, תרשים, תוכנית, שרטוט טכני&#10;&#10;תוכן בינה מלאכותית גנרטיבית עשוי להיות שגוי.">
            <a:hlinkClick r:id="rId3" action="ppaction://hlinksldjump"/>
            <a:extLst>
              <a:ext uri="{FF2B5EF4-FFF2-40B4-BE49-F238E27FC236}">
                <a16:creationId xmlns:a16="http://schemas.microsoft.com/office/drawing/2014/main" id="{4196D0DC-9BF7-3B5F-63DD-42D2BB0288A8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1663" t="1414" r="5808"/>
          <a:stretch>
            <a:fillRect/>
          </a:stretch>
        </p:blipFill>
        <p:spPr>
          <a:xfrm>
            <a:off x="2176807" y="-139849"/>
            <a:ext cx="4790386" cy="69978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8511582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E43DFAAD-62B3-47A2-09BF-767B2B7E7F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57B6AC-B61F-9A67-71AC-45C81A6D344D}"/>
              </a:ext>
            </a:extLst>
          </p:cNvPr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/>
          <a:lstStyle/>
          <a:p>
            <a:r>
              <a:rPr dirty="0"/>
              <a:t>The DES Encryption Algorithm</a:t>
            </a:r>
          </a:p>
        </p:txBody>
      </p:sp>
      <p:pic>
        <p:nvPicPr>
          <p:cNvPr id="7" name="תמונה 6">
            <a:extLst>
              <a:ext uri="{FF2B5EF4-FFF2-40B4-BE49-F238E27FC236}">
                <a16:creationId xmlns:a16="http://schemas.microsoft.com/office/drawing/2014/main" id="{37D510D6-714C-995F-14A1-F9B386E070D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45909" t="57142" r="31904" b="10715"/>
          <a:stretch>
            <a:fillRect/>
          </a:stretch>
        </p:blipFill>
        <p:spPr>
          <a:xfrm>
            <a:off x="0" y="0"/>
            <a:ext cx="9144000" cy="6857999"/>
          </a:xfrm>
          <a:prstGeom prst="rect">
            <a:avLst/>
          </a:prstGeom>
        </p:spPr>
      </p:pic>
      <p:pic>
        <p:nvPicPr>
          <p:cNvPr id="3" name="תמונה 2" descr="תמונה שמכילה טקסט, תרשים, קבלה, תוכנית&#10;&#10;תוכן בינה מלאכותית גנרטיבית עשוי להיות שגוי.">
            <a:hlinkClick r:id="rId3" action="ppaction://hlinksldjump"/>
            <a:extLst>
              <a:ext uri="{FF2B5EF4-FFF2-40B4-BE49-F238E27FC236}">
                <a16:creationId xmlns:a16="http://schemas.microsoft.com/office/drawing/2014/main" id="{9949B329-7BEE-FB95-8A2E-CFE8A623AB16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3565" t="1883" r="4730"/>
          <a:stretch>
            <a:fillRect/>
          </a:stretch>
        </p:blipFill>
        <p:spPr>
          <a:xfrm>
            <a:off x="2349660" y="101788"/>
            <a:ext cx="4294980" cy="6654422"/>
          </a:xfrm>
          <a:prstGeom prst="rect">
            <a:avLst/>
          </a:prstGeom>
          <a:ln>
            <a:noFill/>
          </a:ln>
        </p:spPr>
      </p:pic>
      <mc:AlternateContent xmlns:mc="http://schemas.openxmlformats.org/markup-compatibility/2006" xmlns:pslz="http://schemas.microsoft.com/office/powerpoint/2016/slidezoom">
        <mc:Choice Requires="pslz">
          <p:graphicFrame>
            <p:nvGraphicFramePr>
              <p:cNvPr id="5" name="תצוגת שקופית 4">
                <a:extLst>
                  <a:ext uri="{FF2B5EF4-FFF2-40B4-BE49-F238E27FC236}">
                    <a16:creationId xmlns:a16="http://schemas.microsoft.com/office/drawing/2014/main" id="{173CA7FC-B42C-06CC-5347-0483590E89D4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2866500729"/>
                  </p:ext>
                </p:extLst>
              </p:nvPr>
            </p:nvGraphicFramePr>
            <p:xfrm>
              <a:off x="4535328" y="1520190"/>
              <a:ext cx="232887" cy="232887"/>
            </p:xfrm>
            <a:graphic>
              <a:graphicData uri="http://schemas.microsoft.com/office/powerpoint/2016/slidezoom">
                <pslz:sldZm>
                  <pslz:sldZmObj sldId="271" cId="3376452600">
                    <pslz:zmPr id="{4A2CBF80-9D7A-4EA4-BD37-1A7F28A3E462}" imageType="cover" transitionDur="1000">
                      <p166:blipFill xmlns:p166="http://schemas.microsoft.com/office/powerpoint/2016/6/main">
                        <a:blip r:embed="rId5"/>
                        <a:stretch>
                          <a:fillRect/>
                        </a:stretch>
                      </p166:blipFill>
                      <p166:spPr xmlns:p166="http://schemas.microsoft.com/office/powerpoint/2016/6/main">
                        <a:xfrm>
                          <a:off x="0" y="0"/>
                          <a:ext cx="232887" cy="232887"/>
                        </a:xfrm>
                        <a:prstGeom prst="rect">
                          <a:avLst/>
                        </a:prstGeom>
                        <a:noFill/>
                        <a:ln w="3175">
                          <a:noFill/>
                        </a:ln>
                      </p166:spPr>
                    </pslz:zmPr>
                  </pslz:sldZmObj>
                </pslz:sldZm>
              </a:graphicData>
            </a:graphic>
          </p:graphicFrame>
        </mc:Choice>
        <mc:Fallback xmlns="">
          <p:pic>
            <p:nvPicPr>
              <p:cNvPr id="5" name="תצוגת שקופית 4">
                <a:hlinkClick r:id="rId6" action="ppaction://hlinksldjump"/>
                <a:extLst>
                  <a:ext uri="{FF2B5EF4-FFF2-40B4-BE49-F238E27FC236}">
                    <a16:creationId xmlns:a16="http://schemas.microsoft.com/office/drawing/2014/main" id="{173CA7FC-B42C-06CC-5347-0483590E89D4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4535328" y="1520190"/>
                <a:ext cx="232887" cy="232887"/>
              </a:xfrm>
              <a:prstGeom prst="rect">
                <a:avLst/>
              </a:prstGeom>
              <a:noFill/>
              <a:ln w="3175">
                <a:noFill/>
              </a:ln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03814808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D1A757E5-ADC9-C341-74B3-FD7456E351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25D0D4-7901-219A-C53A-317D81024D65}"/>
              </a:ext>
            </a:extLst>
          </p:cNvPr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/>
          <a:lstStyle/>
          <a:p>
            <a:r>
              <a:rPr dirty="0"/>
              <a:t>The DES Encryption Algorithm</a:t>
            </a:r>
          </a:p>
        </p:txBody>
      </p:sp>
      <p:pic>
        <p:nvPicPr>
          <p:cNvPr id="7" name="תמונה 6">
            <a:extLst>
              <a:ext uri="{FF2B5EF4-FFF2-40B4-BE49-F238E27FC236}">
                <a16:creationId xmlns:a16="http://schemas.microsoft.com/office/drawing/2014/main" id="{23C511D9-6057-31A0-4FE8-25634164706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45909" t="57142" r="31904" b="10715"/>
          <a:stretch>
            <a:fillRect/>
          </a:stretch>
        </p:blipFill>
        <p:spPr>
          <a:xfrm>
            <a:off x="-106756207" y="-41624248"/>
            <a:ext cx="218236813" cy="163677600"/>
          </a:xfrm>
          <a:prstGeom prst="rect">
            <a:avLst/>
          </a:prstGeom>
        </p:spPr>
      </p:pic>
      <p:pic>
        <p:nvPicPr>
          <p:cNvPr id="4" name="תמונה 3" descr="תמונה שמכילה טקסט, צילום מסך, גופן, תרשים&#10;&#10;תוכן בינה מלאכותית גנרטיבית עשוי להיות שגוי.">
            <a:hlinkClick r:id="rId3" action="ppaction://hlinksldjump"/>
            <a:extLst>
              <a:ext uri="{FF2B5EF4-FFF2-40B4-BE49-F238E27FC236}">
                <a16:creationId xmlns:a16="http://schemas.microsoft.com/office/drawing/2014/main" id="{60FAB7E1-B6A9-B6B9-68B9-12A5304DA8EE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3933" t="3514" b="10086"/>
          <a:stretch>
            <a:fillRect/>
          </a:stretch>
        </p:blipFill>
        <p:spPr>
          <a:xfrm rot="10800000" flipH="1" flipV="1">
            <a:off x="1392406" y="776654"/>
            <a:ext cx="6348430" cy="50549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7645260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8C4424F7-200B-D2E8-6874-0E73C1F4B7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Testbench</a:t>
            </a:r>
            <a:endParaRPr lang="he-IL" dirty="0"/>
          </a:p>
        </p:txBody>
      </p:sp>
      <p:sp>
        <p:nvSpPr>
          <p:cNvPr id="3" name="מציין מיקום תוכן 2">
            <a:extLst>
              <a:ext uri="{FF2B5EF4-FFF2-40B4-BE49-F238E27FC236}">
                <a16:creationId xmlns:a16="http://schemas.microsoft.com/office/drawing/2014/main" id="{3B448232-8324-6490-21F8-77E52A5E0F3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330960"/>
            <a:ext cx="8229600" cy="2219960"/>
          </a:xfrm>
        </p:spPr>
        <p:txBody>
          <a:bodyPr>
            <a:normAutofit/>
          </a:bodyPr>
          <a:lstStyle/>
          <a:p>
            <a:r>
              <a:rPr lang="en-US" sz="2400" dirty="0"/>
              <a:t>Most of the testbenches are in the form of:</a:t>
            </a:r>
            <a:br>
              <a:rPr lang="en-US" sz="2400" dirty="0"/>
            </a:br>
            <a:r>
              <a:rPr lang="en-US" sz="2400" dirty="0"/>
              <a:t>input data, output data and expected output</a:t>
            </a:r>
          </a:p>
          <a:p>
            <a:r>
              <a:rPr lang="en-US" sz="2400" dirty="0"/>
              <a:t>Python script to generate reliable test vectors with:</a:t>
            </a:r>
            <a:br>
              <a:rPr lang="en-US" sz="2400" dirty="0"/>
            </a:br>
            <a:r>
              <a:rPr lang="en-US" sz="2400" dirty="0"/>
              <a:t>https://people.duke.edu/~tkb13/courses/ncsu-csc405-2015fa/RESOURCES/JS-DES.shtml</a:t>
            </a:r>
            <a:endParaRPr lang="he-IL" sz="2400" dirty="0"/>
          </a:p>
        </p:txBody>
      </p:sp>
      <p:pic>
        <p:nvPicPr>
          <p:cNvPr id="5" name="תמונה 4">
            <a:extLst>
              <a:ext uri="{FF2B5EF4-FFF2-40B4-BE49-F238E27FC236}">
                <a16:creationId xmlns:a16="http://schemas.microsoft.com/office/drawing/2014/main" id="{6621FFDE-329A-A1B0-B125-1737D0E688B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5189" y="3840162"/>
            <a:ext cx="8693622" cy="2743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5092366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תמונה 4">
            <a:extLst>
              <a:ext uri="{FF2B5EF4-FFF2-40B4-BE49-F238E27FC236}">
                <a16:creationId xmlns:a16="http://schemas.microsoft.com/office/drawing/2014/main" id="{C8763C78-7843-25F2-8E0D-EBB796889B7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1786970"/>
            <a:ext cx="6329485" cy="2834640"/>
          </a:xfrm>
          <a:prstGeom prst="rect">
            <a:avLst/>
          </a:prstGeom>
        </p:spPr>
      </p:pic>
      <p:pic>
        <p:nvPicPr>
          <p:cNvPr id="7" name="תמונה 6">
            <a:extLst>
              <a:ext uri="{FF2B5EF4-FFF2-40B4-BE49-F238E27FC236}">
                <a16:creationId xmlns:a16="http://schemas.microsoft.com/office/drawing/2014/main" id="{F2702F82-F8CE-BB1D-A240-0A1C3478897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2879" y="5173114"/>
            <a:ext cx="8778240" cy="1430569"/>
          </a:xfrm>
          <a:prstGeom prst="rect">
            <a:avLst/>
          </a:prstGeom>
        </p:spPr>
      </p:pic>
      <p:sp>
        <p:nvSpPr>
          <p:cNvPr id="8" name="תיבת טקסט 7">
            <a:extLst>
              <a:ext uri="{FF2B5EF4-FFF2-40B4-BE49-F238E27FC236}">
                <a16:creationId xmlns:a16="http://schemas.microsoft.com/office/drawing/2014/main" id="{1F76706D-9BFF-321D-42C6-ABD929AA9B24}"/>
              </a:ext>
            </a:extLst>
          </p:cNvPr>
          <p:cNvSpPr txBox="1"/>
          <p:nvPr/>
        </p:nvSpPr>
        <p:spPr>
          <a:xfrm>
            <a:off x="182880" y="1331593"/>
            <a:ext cx="1171283" cy="369332"/>
          </a:xfrm>
          <a:prstGeom prst="rect">
            <a:avLst/>
          </a:prstGeom>
          <a:noFill/>
        </p:spPr>
        <p:txBody>
          <a:bodyPr wrap="none" rtlCol="1">
            <a:spAutoFit/>
          </a:bodyPr>
          <a:lstStyle/>
          <a:p>
            <a:r>
              <a:rPr lang="en-US" u="sng" dirty="0"/>
              <a:t>Transcript:</a:t>
            </a:r>
            <a:endParaRPr lang="he-IL" u="sng" dirty="0"/>
          </a:p>
        </p:txBody>
      </p:sp>
      <p:sp>
        <p:nvSpPr>
          <p:cNvPr id="9" name="תיבת טקסט 8">
            <a:extLst>
              <a:ext uri="{FF2B5EF4-FFF2-40B4-BE49-F238E27FC236}">
                <a16:creationId xmlns:a16="http://schemas.microsoft.com/office/drawing/2014/main" id="{2A98F1F6-5E80-B00E-7CF2-8AA8A2C9F2D1}"/>
              </a:ext>
            </a:extLst>
          </p:cNvPr>
          <p:cNvSpPr txBox="1"/>
          <p:nvPr/>
        </p:nvSpPr>
        <p:spPr>
          <a:xfrm>
            <a:off x="182879" y="4803782"/>
            <a:ext cx="1218410" cy="369332"/>
          </a:xfrm>
          <a:prstGeom prst="rect">
            <a:avLst/>
          </a:prstGeom>
          <a:noFill/>
        </p:spPr>
        <p:txBody>
          <a:bodyPr wrap="none" rtlCol="1">
            <a:spAutoFit/>
          </a:bodyPr>
          <a:lstStyle/>
          <a:p>
            <a:r>
              <a:rPr lang="en-US" u="sng" dirty="0"/>
              <a:t>Waveform:</a:t>
            </a:r>
            <a:endParaRPr lang="he-IL" u="sng" dirty="0"/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306972A6-D68D-96F6-46D8-E7B9233D51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>
            <a:normAutofit/>
          </a:bodyPr>
          <a:lstStyle/>
          <a:p>
            <a:r>
              <a:rPr dirty="0"/>
              <a:t>Simulation Results</a:t>
            </a:r>
          </a:p>
        </p:txBody>
      </p:sp>
    </p:spTree>
    <p:extLst>
      <p:ext uri="{BB962C8B-B14F-4D97-AF65-F5344CB8AC3E}">
        <p14:creationId xmlns:p14="http://schemas.microsoft.com/office/powerpoint/2010/main" val="373792430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Project 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dirty="0"/>
          </a:p>
          <a:p>
            <a:pPr>
              <a:defRPr sz="1800"/>
            </a:pPr>
            <a:r>
              <a:rPr dirty="0"/>
              <a:t>Approach: Loop unrolling architecture.</a:t>
            </a:r>
          </a:p>
          <a:p>
            <a:pPr>
              <a:defRPr sz="1800"/>
            </a:pPr>
            <a:r>
              <a:rPr dirty="0"/>
              <a:t>Target Device: Xilinx Artix-7 FPGA.</a:t>
            </a:r>
          </a:p>
          <a:p>
            <a:pPr>
              <a:defRPr sz="1800"/>
            </a:pPr>
            <a:r>
              <a:rPr dirty="0"/>
              <a:t>Frequency: Slowed down for implementation </a:t>
            </a:r>
            <a:r>
              <a:rPr lang="en-US" dirty="0"/>
              <a:t>to </a:t>
            </a:r>
            <a:r>
              <a:rPr lang="he-IL" dirty="0"/>
              <a:t>10</a:t>
            </a:r>
            <a:r>
              <a:rPr dirty="0" err="1"/>
              <a:t>MHz</a:t>
            </a:r>
            <a:r>
              <a:rPr lang="en-US" dirty="0" err="1"/>
              <a:t>.</a:t>
            </a:r>
            <a:endParaRPr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Synthesis Results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dirty="0"/>
          </a:p>
          <a:p>
            <a:pPr>
              <a:defRPr sz="1800"/>
            </a:pPr>
            <a:r>
              <a:rPr dirty="0"/>
              <a:t>Tool Used: </a:t>
            </a:r>
            <a:r>
              <a:rPr dirty="0" err="1"/>
              <a:t>Vivado</a:t>
            </a:r>
            <a:r>
              <a:rPr dirty="0"/>
              <a:t>/Precision</a:t>
            </a:r>
          </a:p>
          <a:p>
            <a:pPr>
              <a:defRPr sz="1800"/>
            </a:pPr>
            <a:r>
              <a:rPr dirty="0"/>
              <a:t>Summary: Area utilization, critical path delay.</a:t>
            </a:r>
          </a:p>
          <a:p>
            <a:pPr>
              <a:defRPr sz="1800"/>
            </a:pPr>
            <a:r>
              <a:rPr dirty="0"/>
              <a:t>Screenshot: Synthesis summary report.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תמונה 4">
            <a:extLst>
              <a:ext uri="{FF2B5EF4-FFF2-40B4-BE49-F238E27FC236}">
                <a16:creationId xmlns:a16="http://schemas.microsoft.com/office/drawing/2014/main" id="{D0B1EFAD-F86C-CB59-D9F9-AE52D107DDF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5636" y="813346"/>
            <a:ext cx="1457528" cy="5820587"/>
          </a:xfrm>
          <a:prstGeom prst="rect">
            <a:avLst/>
          </a:prstGeom>
        </p:spPr>
      </p:pic>
      <p:sp>
        <p:nvSpPr>
          <p:cNvPr id="6" name="תיבת טקסט 5">
            <a:extLst>
              <a:ext uri="{FF2B5EF4-FFF2-40B4-BE49-F238E27FC236}">
                <a16:creationId xmlns:a16="http://schemas.microsoft.com/office/drawing/2014/main" id="{30FF81B8-AB75-3AC8-19AC-4739E8DE036D}"/>
              </a:ext>
            </a:extLst>
          </p:cNvPr>
          <p:cNvSpPr txBox="1"/>
          <p:nvPr/>
        </p:nvSpPr>
        <p:spPr>
          <a:xfrm>
            <a:off x="185636" y="313174"/>
            <a:ext cx="1578124" cy="369332"/>
          </a:xfrm>
          <a:prstGeom prst="rect">
            <a:avLst/>
          </a:prstGeom>
          <a:noFill/>
        </p:spPr>
        <p:txBody>
          <a:bodyPr wrap="none" rtlCol="1">
            <a:spAutoFit/>
          </a:bodyPr>
          <a:lstStyle/>
          <a:p>
            <a:r>
              <a:rPr lang="en-US" u="sng" dirty="0"/>
              <a:t>RTL schematic:</a:t>
            </a:r>
            <a:endParaRPr lang="he-IL" u="sng" dirty="0"/>
          </a:p>
        </p:txBody>
      </p:sp>
      <p:pic>
        <p:nvPicPr>
          <p:cNvPr id="8" name="תמונה 7">
            <a:extLst>
              <a:ext uri="{FF2B5EF4-FFF2-40B4-BE49-F238E27FC236}">
                <a16:creationId xmlns:a16="http://schemas.microsoft.com/office/drawing/2014/main" id="{74524D46-BA53-6D31-E72B-79AD61178A7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95093" y="770477"/>
            <a:ext cx="5163271" cy="5906324"/>
          </a:xfrm>
          <a:prstGeom prst="rect">
            <a:avLst/>
          </a:prstGeom>
        </p:spPr>
      </p:pic>
      <p:sp>
        <p:nvSpPr>
          <p:cNvPr id="9" name="תיבת טקסט 8">
            <a:extLst>
              <a:ext uri="{FF2B5EF4-FFF2-40B4-BE49-F238E27FC236}">
                <a16:creationId xmlns:a16="http://schemas.microsoft.com/office/drawing/2014/main" id="{4F152C37-38F5-A5C4-8A21-E4D8E21EC705}"/>
              </a:ext>
            </a:extLst>
          </p:cNvPr>
          <p:cNvSpPr txBox="1"/>
          <p:nvPr/>
        </p:nvSpPr>
        <p:spPr>
          <a:xfrm>
            <a:off x="5357076" y="313174"/>
            <a:ext cx="2303644" cy="369332"/>
          </a:xfrm>
          <a:prstGeom prst="rect">
            <a:avLst/>
          </a:prstGeom>
          <a:noFill/>
        </p:spPr>
        <p:txBody>
          <a:bodyPr wrap="none" rtlCol="1">
            <a:spAutoFit/>
          </a:bodyPr>
          <a:lstStyle/>
          <a:p>
            <a:r>
              <a:rPr lang="en-US" u="sng" dirty="0"/>
              <a:t>Technology schematic:</a:t>
            </a:r>
            <a:endParaRPr lang="he-IL" u="sng" dirty="0"/>
          </a:p>
        </p:txBody>
      </p:sp>
    </p:spTree>
    <p:extLst>
      <p:ext uri="{BB962C8B-B14F-4D97-AF65-F5344CB8AC3E}">
        <p14:creationId xmlns:p14="http://schemas.microsoft.com/office/powerpoint/2010/main" val="211425706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Place &amp; Route Results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85240"/>
            <a:ext cx="8229600" cy="1143001"/>
          </a:xfrm>
        </p:spPr>
        <p:txBody>
          <a:bodyPr/>
          <a:lstStyle/>
          <a:p>
            <a:pPr>
              <a:defRPr sz="1800"/>
            </a:pPr>
            <a:r>
              <a:rPr dirty="0"/>
              <a:t>Screenshots: Place &amp; Route overview.</a:t>
            </a:r>
          </a:p>
          <a:p>
            <a:pPr>
              <a:defRPr sz="1800"/>
            </a:pPr>
            <a:r>
              <a:rPr dirty="0"/>
              <a:t>Timing Reports: Achieved timing constraints.</a:t>
            </a:r>
          </a:p>
          <a:p>
            <a:pPr>
              <a:defRPr sz="1800"/>
            </a:pPr>
            <a:r>
              <a:rPr dirty="0"/>
              <a:t>Utilization: Final device resource usage.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59ECC2DC-B246-3DAF-F53F-64792A96F1B3}"/>
              </a:ext>
            </a:extLst>
          </p:cNvPr>
          <p:cNvSpPr txBox="1">
            <a:spLocks/>
          </p:cNvSpPr>
          <p:nvPr/>
        </p:nvSpPr>
        <p:spPr>
          <a:xfrm>
            <a:off x="457200" y="4297680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I/O Reports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F0CF54A0-98C1-197E-47E6-E871BA4B5D26}"/>
              </a:ext>
            </a:extLst>
          </p:cNvPr>
          <p:cNvSpPr txBox="1">
            <a:spLocks/>
          </p:cNvSpPr>
          <p:nvPr/>
        </p:nvSpPr>
        <p:spPr>
          <a:xfrm>
            <a:off x="533400" y="5308283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 sz="1800"/>
            </a:pPr>
            <a:r>
              <a:rPr lang="en-US" sz="1800" dirty="0"/>
              <a:t>Pin Mapping: Constraints applied.</a:t>
            </a:r>
          </a:p>
          <a:p>
            <a:pPr>
              <a:defRPr sz="1800"/>
            </a:pPr>
            <a:r>
              <a:rPr lang="en-US" sz="1800" dirty="0"/>
              <a:t>I/O Report: I/O utilization summary.</a:t>
            </a:r>
          </a:p>
          <a:p>
            <a:pPr>
              <a:defRPr sz="1800"/>
            </a:pPr>
            <a:r>
              <a:rPr lang="en-US" sz="1800" dirty="0"/>
              <a:t>Screenshot: I/O constraints file or </a:t>
            </a:r>
            <a:r>
              <a:rPr lang="en-US" sz="1800" dirty="0" err="1"/>
              <a:t>Vivado</a:t>
            </a:r>
            <a:r>
              <a:rPr lang="en-US" sz="1800" dirty="0"/>
              <a:t> I/O view.</a:t>
            </a:r>
          </a:p>
        </p:txBody>
      </p:sp>
      <p:pic>
        <p:nvPicPr>
          <p:cNvPr id="7" name="תמונה 6">
            <a:extLst>
              <a:ext uri="{FF2B5EF4-FFF2-40B4-BE49-F238E27FC236}">
                <a16:creationId xmlns:a16="http://schemas.microsoft.com/office/drawing/2014/main" id="{66214136-E4E6-C3BA-F4BC-A47EC2B08E0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76604" y="2386367"/>
            <a:ext cx="5790792" cy="2043393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תמונה 4" descr="תמונה שמכילה צילום מסך, קו, טקסט, תרשים&#10;&#10;תוכן בינה מלאכותית גנרטיבית עשוי להיות שגוי.">
            <a:extLst>
              <a:ext uri="{FF2B5EF4-FFF2-40B4-BE49-F238E27FC236}">
                <a16:creationId xmlns:a16="http://schemas.microsoft.com/office/drawing/2014/main" id="{231C3112-BB53-1A45-912B-9FAD9C820B6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4807" y="777031"/>
            <a:ext cx="3833305" cy="5943600"/>
          </a:xfrm>
          <a:prstGeom prst="rect">
            <a:avLst/>
          </a:prstGeom>
        </p:spPr>
      </p:pic>
      <p:pic>
        <p:nvPicPr>
          <p:cNvPr id="6" name="תמונה 5" descr="תמונה שמכילה צבעוני, ריבוע, צילום מסך, דפוס&#10;&#10;תוכן בינה מלאכותית גנרטיבית עשוי להיות שגוי.">
            <a:extLst>
              <a:ext uri="{FF2B5EF4-FFF2-40B4-BE49-F238E27FC236}">
                <a16:creationId xmlns:a16="http://schemas.microsoft.com/office/drawing/2014/main" id="{2BB9281F-97C1-380D-8C07-A15B695D937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52655" y="1874311"/>
            <a:ext cx="4926538" cy="4846320"/>
          </a:xfrm>
          <a:prstGeom prst="rect">
            <a:avLst/>
          </a:prstGeom>
        </p:spPr>
      </p:pic>
      <p:sp>
        <p:nvSpPr>
          <p:cNvPr id="7" name="תיבת טקסט 6">
            <a:extLst>
              <a:ext uri="{FF2B5EF4-FFF2-40B4-BE49-F238E27FC236}">
                <a16:creationId xmlns:a16="http://schemas.microsoft.com/office/drawing/2014/main" id="{2E49EB01-9DE4-7F09-E167-71315F721E2D}"/>
              </a:ext>
            </a:extLst>
          </p:cNvPr>
          <p:cNvSpPr txBox="1"/>
          <p:nvPr/>
        </p:nvSpPr>
        <p:spPr>
          <a:xfrm>
            <a:off x="1327150" y="314960"/>
            <a:ext cx="1508618" cy="369332"/>
          </a:xfrm>
          <a:prstGeom prst="rect">
            <a:avLst/>
          </a:prstGeom>
          <a:noFill/>
        </p:spPr>
        <p:txBody>
          <a:bodyPr wrap="none" rtlCol="1">
            <a:spAutoFit/>
          </a:bodyPr>
          <a:lstStyle/>
          <a:p>
            <a:r>
              <a:rPr lang="en-US" u="sng" dirty="0"/>
              <a:t>Device layout:</a:t>
            </a:r>
            <a:endParaRPr lang="he-IL" u="sng" dirty="0"/>
          </a:p>
        </p:txBody>
      </p:sp>
      <p:sp>
        <p:nvSpPr>
          <p:cNvPr id="8" name="תיבת טקסט 7">
            <a:extLst>
              <a:ext uri="{FF2B5EF4-FFF2-40B4-BE49-F238E27FC236}">
                <a16:creationId xmlns:a16="http://schemas.microsoft.com/office/drawing/2014/main" id="{8718C739-D995-1A2F-940D-531F10C3F88F}"/>
              </a:ext>
            </a:extLst>
          </p:cNvPr>
          <p:cNvSpPr txBox="1"/>
          <p:nvPr/>
        </p:nvSpPr>
        <p:spPr>
          <a:xfrm>
            <a:off x="5761615" y="1412240"/>
            <a:ext cx="1130631" cy="646331"/>
          </a:xfrm>
          <a:prstGeom prst="rect">
            <a:avLst/>
          </a:prstGeom>
          <a:noFill/>
        </p:spPr>
        <p:txBody>
          <a:bodyPr wrap="none" rtlCol="1">
            <a:spAutoFit/>
          </a:bodyPr>
          <a:lstStyle/>
          <a:p>
            <a:r>
              <a:rPr lang="en-US" u="sng" dirty="0"/>
              <a:t>I/O report</a:t>
            </a:r>
          </a:p>
          <a:p>
            <a:endParaRPr lang="he-IL" u="sng" dirty="0"/>
          </a:p>
        </p:txBody>
      </p:sp>
    </p:spTree>
    <p:extLst>
      <p:ext uri="{BB962C8B-B14F-4D97-AF65-F5344CB8AC3E}">
        <p14:creationId xmlns:p14="http://schemas.microsoft.com/office/powerpoint/2010/main" val="49179057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dirty="0"/>
              <a:t>Source &amp; Gate-Level Simulation Results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dirty="0"/>
          </a:p>
          <a:p>
            <a:pPr>
              <a:defRPr sz="1800"/>
            </a:pPr>
            <a:r>
              <a:rPr dirty="0"/>
              <a:t>Tools: </a:t>
            </a:r>
            <a:r>
              <a:rPr dirty="0" err="1"/>
              <a:t>ModelSim</a:t>
            </a:r>
            <a:endParaRPr dirty="0"/>
          </a:p>
          <a:p>
            <a:pPr>
              <a:defRPr sz="1800"/>
            </a:pPr>
            <a:r>
              <a:rPr dirty="0"/>
              <a:t>Screenshots: Sample waveforms.</a:t>
            </a:r>
          </a:p>
          <a:p>
            <a:pPr>
              <a:defRPr sz="1800"/>
            </a:pPr>
            <a:r>
              <a:rPr dirty="0"/>
              <a:t>Outputs: $display and $monitor for debugging.</a:t>
            </a:r>
          </a:p>
          <a:p>
            <a:pPr>
              <a:defRPr sz="1800"/>
            </a:pPr>
            <a:r>
              <a:rPr dirty="0"/>
              <a:t>Validation: Test vectors matched expected DES outputs.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תמונה 4">
            <a:extLst>
              <a:ext uri="{FF2B5EF4-FFF2-40B4-BE49-F238E27FC236}">
                <a16:creationId xmlns:a16="http://schemas.microsoft.com/office/drawing/2014/main" id="{BA357D5E-4A81-0390-48A7-1CD6EE46C9D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5173114"/>
            <a:ext cx="8778240" cy="1450076"/>
          </a:xfrm>
          <a:prstGeom prst="rect">
            <a:avLst/>
          </a:prstGeom>
        </p:spPr>
      </p:pic>
      <p:pic>
        <p:nvPicPr>
          <p:cNvPr id="7" name="תמונה 6">
            <a:extLst>
              <a:ext uri="{FF2B5EF4-FFF2-40B4-BE49-F238E27FC236}">
                <a16:creationId xmlns:a16="http://schemas.microsoft.com/office/drawing/2014/main" id="{BD2E02E2-1DAB-9537-586A-FC5FF3F83DD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2880" y="1329287"/>
            <a:ext cx="6240584" cy="2837171"/>
          </a:xfrm>
          <a:prstGeom prst="rect">
            <a:avLst/>
          </a:prstGeom>
        </p:spPr>
      </p:pic>
      <p:sp>
        <p:nvSpPr>
          <p:cNvPr id="8" name="תיבת טקסט 7">
            <a:extLst>
              <a:ext uri="{FF2B5EF4-FFF2-40B4-BE49-F238E27FC236}">
                <a16:creationId xmlns:a16="http://schemas.microsoft.com/office/drawing/2014/main" id="{9709EF3A-2910-4314-3753-F09396F84CC4}"/>
              </a:ext>
            </a:extLst>
          </p:cNvPr>
          <p:cNvSpPr txBox="1"/>
          <p:nvPr/>
        </p:nvSpPr>
        <p:spPr>
          <a:xfrm>
            <a:off x="182880" y="929475"/>
            <a:ext cx="1171283" cy="369332"/>
          </a:xfrm>
          <a:prstGeom prst="rect">
            <a:avLst/>
          </a:prstGeom>
          <a:noFill/>
        </p:spPr>
        <p:txBody>
          <a:bodyPr wrap="none" rtlCol="1">
            <a:spAutoFit/>
          </a:bodyPr>
          <a:lstStyle/>
          <a:p>
            <a:r>
              <a:rPr lang="en-US" u="sng" dirty="0"/>
              <a:t>Transcript:</a:t>
            </a:r>
            <a:endParaRPr lang="he-IL" u="sng" dirty="0"/>
          </a:p>
        </p:txBody>
      </p:sp>
      <p:sp>
        <p:nvSpPr>
          <p:cNvPr id="9" name="תיבת טקסט 8">
            <a:extLst>
              <a:ext uri="{FF2B5EF4-FFF2-40B4-BE49-F238E27FC236}">
                <a16:creationId xmlns:a16="http://schemas.microsoft.com/office/drawing/2014/main" id="{382C166D-F4E5-1795-F74A-5A2A2857B934}"/>
              </a:ext>
            </a:extLst>
          </p:cNvPr>
          <p:cNvSpPr txBox="1"/>
          <p:nvPr/>
        </p:nvSpPr>
        <p:spPr>
          <a:xfrm>
            <a:off x="182879" y="4803782"/>
            <a:ext cx="1218410" cy="369332"/>
          </a:xfrm>
          <a:prstGeom prst="rect">
            <a:avLst/>
          </a:prstGeom>
          <a:noFill/>
        </p:spPr>
        <p:txBody>
          <a:bodyPr wrap="none" rtlCol="1">
            <a:spAutoFit/>
          </a:bodyPr>
          <a:lstStyle/>
          <a:p>
            <a:r>
              <a:rPr lang="en-US" u="sng" dirty="0"/>
              <a:t>Waveform:</a:t>
            </a:r>
            <a:endParaRPr lang="he-IL" u="sng" dirty="0"/>
          </a:p>
        </p:txBody>
      </p:sp>
    </p:spTree>
    <p:extLst>
      <p:ext uri="{BB962C8B-B14F-4D97-AF65-F5344CB8AC3E}">
        <p14:creationId xmlns:p14="http://schemas.microsoft.com/office/powerpoint/2010/main" val="63290996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תמונה 5" descr="תמונה שמכילה טקסט, צילום מסך, גופן, מספר&#10;&#10;תוכן בינה מלאכותית גנרטיבית עשוי להיות שגוי.">
            <a:extLst>
              <a:ext uri="{FF2B5EF4-FFF2-40B4-BE49-F238E27FC236}">
                <a16:creationId xmlns:a16="http://schemas.microsoft.com/office/drawing/2014/main" id="{73DDB6E2-2644-56E4-0E5B-3A5359B0BA9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2231" y="4301051"/>
            <a:ext cx="8479537" cy="2377440"/>
          </a:xfrm>
          <a:prstGeom prst="rect">
            <a:avLst/>
          </a:prstGeom>
        </p:spPr>
      </p:pic>
      <p:pic>
        <p:nvPicPr>
          <p:cNvPr id="10" name="תמונה 9" descr="תמונה שמכילה טקסט, צילום מסך, מספר, גופן&#10;&#10;תוכן בינה מלאכותית גנרטיבית עשוי להיות שגוי.">
            <a:extLst>
              <a:ext uri="{FF2B5EF4-FFF2-40B4-BE49-F238E27FC236}">
                <a16:creationId xmlns:a16="http://schemas.microsoft.com/office/drawing/2014/main" id="{A43E362D-08C6-D97D-82D5-B2A4A8C61D5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2231" y="1585773"/>
            <a:ext cx="8431499" cy="2341067"/>
          </a:xfrm>
          <a:prstGeom prst="rect">
            <a:avLst/>
          </a:prstGeom>
        </p:spPr>
      </p:pic>
      <p:sp>
        <p:nvSpPr>
          <p:cNvPr id="11" name="תיבת טקסט 10">
            <a:extLst>
              <a:ext uri="{FF2B5EF4-FFF2-40B4-BE49-F238E27FC236}">
                <a16:creationId xmlns:a16="http://schemas.microsoft.com/office/drawing/2014/main" id="{B67D76F2-2E00-1953-C1FA-F46624A892A7}"/>
              </a:ext>
            </a:extLst>
          </p:cNvPr>
          <p:cNvSpPr txBox="1"/>
          <p:nvPr/>
        </p:nvSpPr>
        <p:spPr>
          <a:xfrm>
            <a:off x="416560" y="1168400"/>
            <a:ext cx="2598468" cy="369332"/>
          </a:xfrm>
          <a:prstGeom prst="rect">
            <a:avLst/>
          </a:prstGeom>
          <a:noFill/>
        </p:spPr>
        <p:txBody>
          <a:bodyPr wrap="none" rtlCol="1">
            <a:spAutoFit/>
          </a:bodyPr>
          <a:lstStyle/>
          <a:p>
            <a:r>
              <a:rPr lang="en-US" u="sng" dirty="0"/>
              <a:t>Before fixing timing issue:</a:t>
            </a:r>
            <a:endParaRPr lang="he-IL" u="sng" dirty="0"/>
          </a:p>
        </p:txBody>
      </p:sp>
      <p:sp>
        <p:nvSpPr>
          <p:cNvPr id="12" name="תיבת טקסט 11">
            <a:extLst>
              <a:ext uri="{FF2B5EF4-FFF2-40B4-BE49-F238E27FC236}">
                <a16:creationId xmlns:a16="http://schemas.microsoft.com/office/drawing/2014/main" id="{58AFAFF2-4753-6009-EC2E-A11A71C62E3F}"/>
              </a:ext>
            </a:extLst>
          </p:cNvPr>
          <p:cNvSpPr txBox="1"/>
          <p:nvPr/>
        </p:nvSpPr>
        <p:spPr>
          <a:xfrm>
            <a:off x="416560" y="3931719"/>
            <a:ext cx="2453620" cy="369332"/>
          </a:xfrm>
          <a:prstGeom prst="rect">
            <a:avLst/>
          </a:prstGeom>
          <a:noFill/>
        </p:spPr>
        <p:txBody>
          <a:bodyPr wrap="none" rtlCol="1">
            <a:spAutoFit/>
          </a:bodyPr>
          <a:lstStyle/>
          <a:p>
            <a:r>
              <a:rPr lang="en-US" u="sng" dirty="0"/>
              <a:t>After fixing timing issue:</a:t>
            </a:r>
            <a:endParaRPr lang="he-IL" u="sng" dirty="0"/>
          </a:p>
        </p:txBody>
      </p:sp>
      <p:sp>
        <p:nvSpPr>
          <p:cNvPr id="13" name="Title 1">
            <a:extLst>
              <a:ext uri="{FF2B5EF4-FFF2-40B4-BE49-F238E27FC236}">
                <a16:creationId xmlns:a16="http://schemas.microsoft.com/office/drawing/2014/main" id="{A8CE85B6-455C-517C-5221-3A2E668934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 dirty="0"/>
              <a:t>Critical Path &amp; Throughput</a:t>
            </a:r>
          </a:p>
        </p:txBody>
      </p:sp>
    </p:spTree>
    <p:extLst>
      <p:ext uri="{BB962C8B-B14F-4D97-AF65-F5344CB8AC3E}">
        <p14:creationId xmlns:p14="http://schemas.microsoft.com/office/powerpoint/2010/main" val="272727562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330200"/>
            <a:ext cx="8229600" cy="4525963"/>
          </a:xfrm>
        </p:spPr>
        <p:txBody>
          <a:bodyPr/>
          <a:lstStyle/>
          <a:p>
            <a:endParaRPr dirty="0"/>
          </a:p>
          <a:p>
            <a:pPr marL="0" indent="0">
              <a:buNone/>
              <a:defRPr sz="1800"/>
            </a:pPr>
            <a:r>
              <a:rPr lang="en-US" sz="2800" dirty="0"/>
              <a:t>Calculation of Fmax and throughput by the </a:t>
            </a:r>
            <a:r>
              <a:rPr lang="en-US" sz="2800" dirty="0" err="1"/>
              <a:t>vivado</a:t>
            </a:r>
            <a:r>
              <a:rPr lang="en-US" sz="2800" dirty="0"/>
              <a:t> results:</a:t>
            </a:r>
            <a:endParaRPr sz="2800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" name="תיבת טקסט 4">
                <a:extLst>
                  <a:ext uri="{FF2B5EF4-FFF2-40B4-BE49-F238E27FC236}">
                    <a16:creationId xmlns:a16="http://schemas.microsoft.com/office/drawing/2014/main" id="{03CB1BEC-CC5A-A186-69A6-723A74D38505}"/>
                  </a:ext>
                </a:extLst>
              </p:cNvPr>
              <p:cNvSpPr txBox="1"/>
              <p:nvPr/>
            </p:nvSpPr>
            <p:spPr>
              <a:xfrm>
                <a:off x="1818640" y="1868121"/>
                <a:ext cx="6400800" cy="225978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0" marR="0" algn="r" rtl="1">
                  <a:lnSpc>
                    <a:spcPct val="107000"/>
                  </a:lnSpc>
                  <a:spcAft>
                    <a:spcPts val="800"/>
                  </a:spcAft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800" i="1" kern="100" smtClean="0"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  <a:cs typeface="Arial" panose="020B0604020202020204" pitchFamily="34" charset="0"/>
                        </a:rPr>
                        <m:t>𝑊𝑁𝑆</m:t>
                      </m:r>
                      <m:r>
                        <a:rPr lang="en-US" sz="1800" i="1" kern="100" smtClean="0"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  <a:cs typeface="Arial" panose="020B0604020202020204" pitchFamily="34" charset="0"/>
                        </a:rPr>
                        <m:t> = </m:t>
                      </m:r>
                      <m:r>
                        <a:rPr lang="en-US" sz="1800" i="1" kern="100" smtClean="0"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  <a:cs typeface="Arial" panose="020B0604020202020204" pitchFamily="34" charset="0"/>
                        </a:rPr>
                        <m:t>53</m:t>
                      </m:r>
                      <m:r>
                        <a:rPr lang="en-US" sz="1800" i="1" kern="100" smtClean="0"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  <a:cs typeface="Arial" panose="020B0604020202020204" pitchFamily="34" charset="0"/>
                        </a:rPr>
                        <m:t>.</m:t>
                      </m:r>
                      <m:r>
                        <a:rPr lang="en-US" sz="1800" i="1" kern="100" smtClean="0"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  <a:cs typeface="Arial" panose="020B0604020202020204" pitchFamily="34" charset="0"/>
                        </a:rPr>
                        <m:t>49</m:t>
                      </m:r>
                      <m:r>
                        <a:rPr lang="en-US" sz="1800" i="1" kern="100" smtClean="0"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  <a:cs typeface="Arial" panose="020B0604020202020204" pitchFamily="34" charset="0"/>
                        </a:rPr>
                        <m:t>[</m:t>
                      </m:r>
                      <m:r>
                        <a:rPr lang="en-US" sz="1800" i="1" kern="100" smtClean="0"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  <a:cs typeface="Arial" panose="020B0604020202020204" pitchFamily="34" charset="0"/>
                        </a:rPr>
                        <m:t>𝑛𝑠</m:t>
                      </m:r>
                      <m:r>
                        <a:rPr lang="en-US" sz="1800" i="1" kern="100" smtClean="0"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  <a:cs typeface="Arial" panose="020B0604020202020204" pitchFamily="34" charset="0"/>
                        </a:rPr>
                        <m:t>]</m:t>
                      </m:r>
                    </m:oMath>
                  </m:oMathPara>
                </a14:m>
                <a:endParaRPr lang="en-US" sz="1800" kern="100" dirty="0">
                  <a:effectLst/>
                  <a:latin typeface="Aptos" panose="020B0004020202020204" pitchFamily="34" charset="0"/>
                  <a:ea typeface="Aptos" panose="020B0004020202020204" pitchFamily="34" charset="0"/>
                  <a:cs typeface="Arial" panose="020B0604020202020204" pitchFamily="34" charset="0"/>
                </a:endParaRPr>
              </a:p>
              <a:p>
                <a:pPr marL="0" marR="0" algn="r" rtl="1">
                  <a:lnSpc>
                    <a:spcPct val="107000"/>
                  </a:lnSpc>
                  <a:spcAft>
                    <a:spcPts val="800"/>
                  </a:spcAft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800" i="1" kern="100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m:t>𝐶𝑟𝑖𝑡𝑖𝑐𝑎𝑙</m:t>
                      </m:r>
                      <m:r>
                        <a:rPr lang="en-US" sz="1800" i="1" kern="100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m:t> </m:t>
                      </m:r>
                      <m:r>
                        <a:rPr lang="en-US" sz="1800" i="1" kern="100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m:t>𝑃𝑎𝑡</m:t>
                      </m:r>
                      <m:r>
                        <a:rPr lang="en-US" sz="1800" i="1" kern="100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m:t>h</m:t>
                      </m:r>
                      <m:r>
                        <a:rPr lang="en-US" sz="1800" i="1" kern="100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m:t> </m:t>
                      </m:r>
                      <m:r>
                        <a:rPr lang="en-US" sz="1800" i="1" kern="100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m:t>𝐷𝑒𝑙𝑎𝑦</m:t>
                      </m:r>
                      <m:r>
                        <a:rPr lang="en-US" sz="1800" i="1" kern="100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m:t>=</m:t>
                      </m:r>
                      <m:r>
                        <a:rPr lang="en-US" sz="1800" i="1" kern="100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m:t>100</m:t>
                      </m:r>
                      <m:r>
                        <a:rPr lang="en-US" sz="1800" i="1" kern="100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m:t>[</m:t>
                      </m:r>
                      <m:r>
                        <a:rPr lang="en-US" sz="1800" i="1" kern="100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m:t>𝑛𝑠</m:t>
                      </m:r>
                      <m:r>
                        <a:rPr lang="en-US" sz="1800" i="1" kern="100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m:t>]−</m:t>
                      </m:r>
                      <m:r>
                        <a:rPr lang="en-US" sz="1800" i="1" kern="100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m:t>53</m:t>
                      </m:r>
                      <m:r>
                        <a:rPr lang="en-US" sz="1800" i="1" kern="100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m:t>.</m:t>
                      </m:r>
                      <m:r>
                        <a:rPr lang="en-US" sz="1800" i="1" kern="100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m:t>49</m:t>
                      </m:r>
                      <m:r>
                        <a:rPr lang="en-US" sz="1800" i="1" kern="100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m:t>[</m:t>
                      </m:r>
                      <m:r>
                        <a:rPr lang="en-US" sz="1800" i="1" kern="100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m:t>𝑛𝑠</m:t>
                      </m:r>
                      <m:r>
                        <a:rPr lang="en-US" sz="1800" i="1" kern="100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m:t>]=</m:t>
                      </m:r>
                      <m:r>
                        <a:rPr lang="en-US" sz="1800" b="1" i="1" kern="100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m:t>𝟒𝟔</m:t>
                      </m:r>
                      <m:r>
                        <a:rPr lang="en-US" sz="1800" b="1" i="1" kern="100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m:t>.</m:t>
                      </m:r>
                      <m:r>
                        <a:rPr lang="en-US" sz="1800" b="1" i="1" kern="100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m:t>𝟓𝟏</m:t>
                      </m:r>
                      <m:r>
                        <a:rPr lang="en-US" sz="1800" b="1" i="1" kern="100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m:t>[</m:t>
                      </m:r>
                      <m:r>
                        <a:rPr lang="en-US" sz="1800" b="1" i="1" kern="100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m:t>𝒏𝒔</m:t>
                      </m:r>
                      <m:r>
                        <a:rPr lang="en-US" sz="1800" b="1" i="1" kern="100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m:t>]</m:t>
                      </m:r>
                    </m:oMath>
                  </m:oMathPara>
                </a14:m>
                <a:endParaRPr lang="en-US" sz="1800" b="1" kern="100" dirty="0">
                  <a:effectLst/>
                  <a:latin typeface="Aptos" panose="020B0004020202020204" pitchFamily="34" charset="0"/>
                  <a:ea typeface="Aptos" panose="020B0004020202020204" pitchFamily="34" charset="0"/>
                  <a:cs typeface="Arial" panose="020B0604020202020204" pitchFamily="34" charset="0"/>
                </a:endParaRPr>
              </a:p>
              <a:p>
                <a:pPr marL="0" marR="0" algn="r" rtl="1">
                  <a:lnSpc>
                    <a:spcPct val="107000"/>
                  </a:lnSpc>
                  <a:spcAft>
                    <a:spcPts val="800"/>
                  </a:spcAft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800" i="1" kern="10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Arial" panose="020B0604020202020204" pitchFamily="34" charset="0"/>
                            </a:rPr>
                          </m:ctrlPr>
                        </m:sSubPr>
                        <m:e>
                          <m:r>
                            <a:rPr lang="en-US" sz="1800" i="1" kern="10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Arial" panose="020B0604020202020204" pitchFamily="34" charset="0"/>
                            </a:rPr>
                            <m:t>𝐹</m:t>
                          </m:r>
                        </m:e>
                        <m:sub>
                          <m:r>
                            <a:rPr lang="en-US" sz="1800" i="1" kern="10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Arial" panose="020B0604020202020204" pitchFamily="34" charset="0"/>
                            </a:rPr>
                            <m:t>𝑚𝑎𝑥</m:t>
                          </m:r>
                        </m:sub>
                      </m:sSub>
                      <m:r>
                        <a:rPr lang="en-US" sz="1800" i="1" kern="100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m:t>=</m:t>
                      </m:r>
                      <m:f>
                        <m:fPr>
                          <m:ctrlPr>
                            <a:rPr lang="en-US" sz="1800" i="1" kern="10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Arial" panose="020B0604020202020204" pitchFamily="34" charset="0"/>
                            </a:rPr>
                          </m:ctrlPr>
                        </m:fPr>
                        <m:num>
                          <m:r>
                            <a:rPr lang="en-US" sz="1800" i="1" kern="10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Arial" panose="020B0604020202020204" pitchFamily="34" charset="0"/>
                            </a:rPr>
                            <m:t>1</m:t>
                          </m:r>
                        </m:num>
                        <m:den>
                          <m:r>
                            <a:rPr lang="en-US" sz="1800" i="1" kern="10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Arial" panose="020B0604020202020204" pitchFamily="34" charset="0"/>
                            </a:rPr>
                            <m:t>𝐶𝑟𝑖𝑡𝑖𝑐𝑎𝑙</m:t>
                          </m:r>
                          <m:r>
                            <a:rPr lang="en-US" sz="1800" i="1" kern="10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Arial" panose="020B0604020202020204" pitchFamily="34" charset="0"/>
                            </a:rPr>
                            <m:t> </m:t>
                          </m:r>
                          <m:r>
                            <a:rPr lang="en-US" sz="1800" i="1" kern="10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Arial" panose="020B0604020202020204" pitchFamily="34" charset="0"/>
                            </a:rPr>
                            <m:t>𝑃𝑎𝑡</m:t>
                          </m:r>
                          <m:r>
                            <a:rPr lang="en-US" sz="1800" i="1" kern="10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Arial" panose="020B0604020202020204" pitchFamily="34" charset="0"/>
                            </a:rPr>
                            <m:t>h</m:t>
                          </m:r>
                          <m:r>
                            <a:rPr lang="en-US" sz="1800" i="1" kern="10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Arial" panose="020B0604020202020204" pitchFamily="34" charset="0"/>
                            </a:rPr>
                            <m:t> </m:t>
                          </m:r>
                          <m:r>
                            <a:rPr lang="en-US" sz="1800" i="1" kern="10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Arial" panose="020B0604020202020204" pitchFamily="34" charset="0"/>
                            </a:rPr>
                            <m:t>𝐷𝑒𝑙𝑎𝑦</m:t>
                          </m:r>
                        </m:den>
                      </m:f>
                      <m:r>
                        <a:rPr lang="en-US" sz="1800" i="1" kern="100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m:t>=</m:t>
                      </m:r>
                      <m:r>
                        <a:rPr lang="en-US" sz="1800" b="1" i="1" kern="100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m:t>𝟐𝟏</m:t>
                      </m:r>
                      <m:r>
                        <a:rPr lang="en-US" sz="1800" b="1" i="1" kern="100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m:t>.</m:t>
                      </m:r>
                      <m:r>
                        <a:rPr lang="en-US" sz="1800" b="1" i="1" kern="100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m:t>𝟓</m:t>
                      </m:r>
                      <m:r>
                        <a:rPr lang="en-US" sz="1800" b="1" i="1" kern="100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m:t>[</m:t>
                      </m:r>
                      <m:r>
                        <a:rPr lang="en-US" sz="1800" b="1" i="1" kern="100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m:t>𝑴𝑯𝒛</m:t>
                      </m:r>
                      <m:r>
                        <a:rPr lang="en-US" sz="1800" b="1" i="1" kern="100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m:t>]</m:t>
                      </m:r>
                    </m:oMath>
                  </m:oMathPara>
                </a14:m>
                <a:endParaRPr lang="en-US" sz="1800" b="1" kern="100" dirty="0">
                  <a:effectLst/>
                  <a:latin typeface="Aptos" panose="020B0004020202020204" pitchFamily="34" charset="0"/>
                  <a:ea typeface="Aptos" panose="020B0004020202020204" pitchFamily="34" charset="0"/>
                  <a:cs typeface="Arial" panose="020B0604020202020204" pitchFamily="34" charset="0"/>
                </a:endParaRPr>
              </a:p>
              <a:p>
                <a:pPr marL="0" marR="0" algn="r" rtl="1">
                  <a:lnSpc>
                    <a:spcPct val="107000"/>
                  </a:lnSpc>
                  <a:spcAft>
                    <a:spcPts val="800"/>
                  </a:spcAft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800" i="1" kern="100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m:t>𝑇</m:t>
                      </m:r>
                      <m:r>
                        <a:rPr lang="en-US" sz="1800" i="1" kern="100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m:t>h</m:t>
                      </m:r>
                      <m:r>
                        <a:rPr lang="en-US" sz="1800" i="1" kern="100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m:t>𝑟𝑜𝑢𝑔</m:t>
                      </m:r>
                      <m:r>
                        <a:rPr lang="en-US" sz="1800" i="1" kern="100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m:t>h</m:t>
                      </m:r>
                      <m:r>
                        <a:rPr lang="en-US" sz="1800" i="1" kern="100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m:t>𝑝𝑢𝑡</m:t>
                      </m:r>
                      <m:r>
                        <a:rPr lang="en-US" sz="1800" i="1" kern="100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m:t>=</m:t>
                      </m:r>
                      <m:r>
                        <a:rPr lang="en-US" sz="1800" i="1" kern="100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m:t>64</m:t>
                      </m:r>
                      <m:r>
                        <a:rPr lang="en-US" sz="1800" i="1" kern="100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m:t> × </m:t>
                      </m:r>
                      <m:sSub>
                        <m:sSubPr>
                          <m:ctrlPr>
                            <a:rPr lang="en-US" sz="1800" i="1" kern="10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Arial" panose="020B0604020202020204" pitchFamily="34" charset="0"/>
                            </a:rPr>
                          </m:ctrlPr>
                        </m:sSubPr>
                        <m:e>
                          <m:r>
                            <a:rPr lang="en-US" sz="1800" i="1" kern="10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Arial" panose="020B0604020202020204" pitchFamily="34" charset="0"/>
                            </a:rPr>
                            <m:t>𝐹</m:t>
                          </m:r>
                        </m:e>
                        <m:sub>
                          <m:r>
                            <a:rPr lang="en-US" sz="1800" i="1" kern="10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Arial" panose="020B0604020202020204" pitchFamily="34" charset="0"/>
                            </a:rPr>
                            <m:t>𝑚𝑎𝑥</m:t>
                          </m:r>
                        </m:sub>
                      </m:sSub>
                      <m:r>
                        <a:rPr lang="en-US" sz="1800" i="1" kern="100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m:t>=</m:t>
                      </m:r>
                      <m:r>
                        <a:rPr lang="en-US" sz="1800" b="1" i="1" kern="100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m:t>𝟏</m:t>
                      </m:r>
                      <m:r>
                        <a:rPr lang="en-US" sz="1800" b="1" i="1" kern="100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m:t>.</m:t>
                      </m:r>
                      <m:r>
                        <a:rPr lang="en-US" sz="1800" b="1" i="1" kern="100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m:t>𝟑𝟕𝟔</m:t>
                      </m:r>
                      <m:r>
                        <a:rPr lang="en-US" sz="1800" b="1" i="1" kern="100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m:t>[</m:t>
                      </m:r>
                      <m:f>
                        <m:fPr>
                          <m:ctrlPr>
                            <a:rPr lang="en-US" sz="1800" b="1" i="1" kern="10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Arial" panose="020B0604020202020204" pitchFamily="34" charset="0"/>
                            </a:rPr>
                          </m:ctrlPr>
                        </m:fPr>
                        <m:num>
                          <m:r>
                            <a:rPr lang="en-US" sz="1800" b="1" i="1" kern="10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Arial" panose="020B0604020202020204" pitchFamily="34" charset="0"/>
                            </a:rPr>
                            <m:t>𝑮𝑩</m:t>
                          </m:r>
                        </m:num>
                        <m:den>
                          <m:r>
                            <a:rPr lang="en-US" sz="1800" b="1" i="1" kern="10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Arial" panose="020B0604020202020204" pitchFamily="34" charset="0"/>
                            </a:rPr>
                            <m:t>𝒔</m:t>
                          </m:r>
                        </m:den>
                      </m:f>
                      <m:r>
                        <a:rPr lang="en-US" sz="1800" b="1" i="1" kern="100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m:t>]</m:t>
                      </m:r>
                    </m:oMath>
                  </m:oMathPara>
                </a14:m>
                <a:endParaRPr lang="en-US" sz="1800" b="1" kern="100" dirty="0">
                  <a:effectLst/>
                  <a:latin typeface="Aptos" panose="020B0004020202020204" pitchFamily="34" charset="0"/>
                  <a:ea typeface="Aptos" panose="020B00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>
          <p:sp>
            <p:nvSpPr>
              <p:cNvPr id="5" name="תיבת טקסט 4">
                <a:extLst>
                  <a:ext uri="{FF2B5EF4-FFF2-40B4-BE49-F238E27FC236}">
                    <a16:creationId xmlns:a16="http://schemas.microsoft.com/office/drawing/2014/main" id="{03CB1BEC-CC5A-A186-69A6-723A74D3850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18640" y="1868121"/>
                <a:ext cx="6400800" cy="2259786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he-IL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Conclusions &amp; Lessons Learned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pPr>
              <a:defRPr sz="1800"/>
            </a:pPr>
            <a:r>
              <a:t>Challenges: Debugging loop unrolling, simulation vs. synthesis.</a:t>
            </a:r>
          </a:p>
          <a:p>
            <a:pPr>
              <a:defRPr sz="1800"/>
            </a:pPr>
            <a:r>
              <a:t>What worked: Design met functional and timing goals.</a:t>
            </a:r>
          </a:p>
          <a:p>
            <a:pPr>
              <a:defRPr sz="1800"/>
            </a:pPr>
            <a:r>
              <a:t>Improvements: Possible pipelining, optimization.</a:t>
            </a:r>
          </a:p>
          <a:p>
            <a:pPr>
              <a:defRPr sz="1800"/>
            </a:pPr>
            <a:r>
              <a:t>Final note: Thank you and open to questions!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4548</TotalTime>
  <Words>379</Words>
  <Application>Microsoft Office PowerPoint</Application>
  <PresentationFormat>‫הצגה על המסך (4:3)</PresentationFormat>
  <Paragraphs>61</Paragraphs>
  <Slides>17</Slides>
  <Notes>0</Notes>
  <HiddenSlides>3</HiddenSlides>
  <MMClips>0</MMClips>
  <ScaleCrop>false</ScaleCrop>
  <HeadingPairs>
    <vt:vector size="6" baseType="variant">
      <vt:variant>
        <vt:lpstr>גופנים בשימוש</vt:lpstr>
      </vt:variant>
      <vt:variant>
        <vt:i4>4</vt:i4>
      </vt:variant>
      <vt:variant>
        <vt:lpstr>ערכת נושא</vt:lpstr>
      </vt:variant>
      <vt:variant>
        <vt:i4>1</vt:i4>
      </vt:variant>
      <vt:variant>
        <vt:lpstr>כותרות שקופיות</vt:lpstr>
      </vt:variant>
      <vt:variant>
        <vt:i4>17</vt:i4>
      </vt:variant>
    </vt:vector>
  </HeadingPairs>
  <TitlesOfParts>
    <vt:vector size="22" baseType="lpstr">
      <vt:lpstr>Aptos</vt:lpstr>
      <vt:lpstr>Arial</vt:lpstr>
      <vt:lpstr>Calibri</vt:lpstr>
      <vt:lpstr>Cambria Math</vt:lpstr>
      <vt:lpstr>Office Theme</vt:lpstr>
      <vt:lpstr>Implementing DES Encryption Algorithm in Verilog</vt:lpstr>
      <vt:lpstr>The DES Encryption Algorithm</vt:lpstr>
      <vt:lpstr>The DES Encryption Algorithm</vt:lpstr>
      <vt:lpstr>The DES Encryption Algorithm</vt:lpstr>
      <vt:lpstr>The DES Encryption Algorithm</vt:lpstr>
      <vt:lpstr>Testbench</vt:lpstr>
      <vt:lpstr>Simulation Results</vt:lpstr>
      <vt:lpstr>Project Architecture</vt:lpstr>
      <vt:lpstr>Synthesis Results</vt:lpstr>
      <vt:lpstr>מצגת של PowerPoint‏</vt:lpstr>
      <vt:lpstr>Place &amp; Route Results</vt:lpstr>
      <vt:lpstr>מצגת של PowerPoint‏</vt:lpstr>
      <vt:lpstr>Source &amp; Gate-Level Simulation Results</vt:lpstr>
      <vt:lpstr>מצגת של PowerPoint‏</vt:lpstr>
      <vt:lpstr>Critical Path &amp; Throughput</vt:lpstr>
      <vt:lpstr>מצגת של PowerPoint‏</vt:lpstr>
      <vt:lpstr>Conclusions &amp; Lessons Learned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david orlian</cp:lastModifiedBy>
  <cp:revision>15</cp:revision>
  <dcterms:created xsi:type="dcterms:W3CDTF">2013-01-27T09:14:16Z</dcterms:created>
  <dcterms:modified xsi:type="dcterms:W3CDTF">2025-09-21T14:00:30Z</dcterms:modified>
  <cp:category/>
</cp:coreProperties>
</file>